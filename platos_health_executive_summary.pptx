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3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02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PLATOS HEALTH ANALYTICS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Engagement &amp;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Outcomes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5029200" cy="36576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83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user activation, retention, engagement patterns,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associated health outcomes.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4160520"/>
            <a:ext cx="1828800" cy="777240"/>
          </a:xfrm>
          <a:prstGeom prst="rect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160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Events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Behavior)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4160520"/>
            <a:ext cx="1828800" cy="777240"/>
          </a:xfrm>
          <a:prstGeom prst="rect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4160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(Demographics)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4160520"/>
            <a:ext cx="1828800" cy="777240"/>
          </a:xfrm>
          <a:prstGeom prst="rect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4160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 &amp; Body)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0" y="4160520"/>
            <a:ext cx="2331720" cy="777240"/>
          </a:xfrm>
          <a:prstGeom prst="rect">
            <a:avLst/>
          </a:prstGeom>
          <a:solidFill>
            <a:srgbClr val="EE9B00">
              <a:alpha val="80000"/>
            </a:srgbClr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160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SQL  |  Power BI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Activation Funnel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97880" y="960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 (100%)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185623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  (76%)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97880" y="2752344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  (65%)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7880" y="3648456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439  (58%)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14300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1572768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users initiated signup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439 users completed (≈59%)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drop-off (~24%) at verification step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Rate: 59%   |   Biggest Drop-off: Verification Step (~24%)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07EED5-C53B-C65E-7CEB-C2C486EA7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1" y="960120"/>
            <a:ext cx="5635959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&amp; Early Engagement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40170" y="960120"/>
            <a:ext cx="128378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40170" y="960120"/>
            <a:ext cx="9507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033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93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</a:t>
            </a:r>
            <a:r>
              <a:rPr lang="en-US" sz="2000" b="1" dirty="0">
                <a:solidFill>
                  <a:srgbClr val="0A93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0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40170" y="3337560"/>
            <a:ext cx="128378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40170" y="3337560"/>
            <a:ext cx="95070" cy="109728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3410712"/>
            <a:ext cx="1005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670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</a:t>
            </a:r>
            <a:r>
              <a:rPr lang="en-US" sz="2000" b="1" dirty="0">
                <a:solidFill>
                  <a:srgbClr val="CA670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680960" y="39044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Gap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new users do not return within the first week, early engagement is the single strongest predictor of long-term user retention.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31AF97-B562-6179-F890-62374BA2E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6" y="960120"/>
            <a:ext cx="3826691" cy="3474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3FF3AD-8E85-0CE1-F156-35621B39D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17" y="955021"/>
            <a:ext cx="356543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Outcomes &amp; Behaviors Pattern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846320" y="17876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937760" y="2280265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2275041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49240" y="217627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and body composition were tracked for up to 12 weeks where data was available.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2828905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82890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76672" y="27614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weight reduction was used as the threshold for meaningful improvement.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37760" y="3404506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3413359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76672" y="3398701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data is only available for users with connected devices, so those findings represent a smaller group of users.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76672" y="3931920"/>
            <a:ext cx="352044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3977640"/>
            <a:ext cx="4480560" cy="548640"/>
          </a:xfrm>
          <a:prstGeom prst="rect">
            <a:avLst/>
          </a:prstGeom>
          <a:solidFill>
            <a:srgbClr val="2A9D8F">
              <a:alpha val="85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977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improvement observed across ALL engagement segments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patterns vary, but consistent data logging appears linked to better outcomes.</a:t>
            </a: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15736EF3-AEA9-ED6A-4987-C952AB8436F6}"/>
              </a:ext>
            </a:extLst>
          </p:cNvPr>
          <p:cNvSpPr/>
          <p:nvPr/>
        </p:nvSpPr>
        <p:spPr>
          <a:xfrm>
            <a:off x="7075714" y="914400"/>
            <a:ext cx="1748245" cy="950686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00BF66-1B8E-0F26-0654-9CCDC4314D67}"/>
              </a:ext>
            </a:extLst>
          </p:cNvPr>
          <p:cNvSpPr txBox="1"/>
          <p:nvPr/>
        </p:nvSpPr>
        <p:spPr>
          <a:xfrm>
            <a:off x="7325360" y="979671"/>
            <a:ext cx="89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~10%</a:t>
            </a:r>
            <a:endParaRPr 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CEB5ED-ED37-39F2-235B-03B322843B0E}"/>
              </a:ext>
            </a:extLst>
          </p:cNvPr>
          <p:cNvSpPr txBox="1"/>
          <p:nvPr/>
        </p:nvSpPr>
        <p:spPr>
          <a:xfrm>
            <a:off x="7319228" y="1395546"/>
            <a:ext cx="1586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Improvement Gap</a:t>
            </a:r>
            <a:endParaRPr lang="en-US" sz="12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7CE32627-46A3-DF54-F9A4-2D071390956F}"/>
              </a:ext>
            </a:extLst>
          </p:cNvPr>
          <p:cNvSpPr/>
          <p:nvPr/>
        </p:nvSpPr>
        <p:spPr>
          <a:xfrm>
            <a:off x="7075714" y="914400"/>
            <a:ext cx="94343" cy="95068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2332F04-11C7-0856-5B36-0FA473443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37" y="914400"/>
            <a:ext cx="4648221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Insight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assessed for accuracy, clarity, tone, and safety. Ratings: Pass | Needs Edit | Fail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42416"/>
            <a:ext cx="41605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042416"/>
            <a:ext cx="416052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24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Rating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18888" y="10424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Version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53312"/>
            <a:ext cx="4160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353312"/>
            <a:ext cx="4160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1463040"/>
            <a:ext cx="292608" cy="292608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148132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E9B00">
              <a:alpha val="85000"/>
            </a:srgbClr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14813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Edit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81912" y="1389888"/>
            <a:ext cx="272491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but slightly misleading — "keep up whatever you're doing" is vague and could imply medical advice.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1389888"/>
            <a:ext cx="40233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blood pressure decreased from 145/92 to 138/88 this week. Continuing healthy habits and following guidance from your healthcare provider may help support further improvement.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02536"/>
            <a:ext cx="4160520" cy="612648"/>
          </a:xfrm>
          <a:prstGeom prst="rect">
            <a:avLst/>
          </a:prstGeom>
          <a:solidFill>
            <a:srgbClr val="E9ECE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002536"/>
            <a:ext cx="4160520" cy="612648"/>
          </a:xfrm>
          <a:prstGeom prst="rect">
            <a:avLst/>
          </a:prstGeom>
          <a:solidFill>
            <a:srgbClr val="E9ECE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2112264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112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" y="213055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1305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81912" y="2039112"/>
            <a:ext cx="272491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0.4% body fat change is very small and may reflect normal variation. Suggesting a metabolic issue could unnecessarily worry users.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2039112"/>
            <a:ext cx="40233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fat increased slightly. Small changes can occur due to normal variation — it may be helpful to continue tracking over time.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4160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651760"/>
            <a:ext cx="4160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" y="2761488"/>
            <a:ext cx="292608" cy="292608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761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" y="2779776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E9B00">
              <a:alpha val="85000"/>
            </a:srgbClr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27797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Edit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81912" y="2688336"/>
            <a:ext cx="272491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user to "most users" may feel discouraging and does not provide helpful context.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2688336"/>
            <a:ext cx="40233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logged 4 meals this week. Logging more consistently can help us provide more accurate insights about your nutrition patterns.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300984"/>
            <a:ext cx="4160520" cy="612648"/>
          </a:xfrm>
          <a:prstGeom prst="rect">
            <a:avLst/>
          </a:prstGeom>
          <a:solidFill>
            <a:srgbClr val="E9ECE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300984"/>
            <a:ext cx="4160520" cy="612648"/>
          </a:xfrm>
          <a:prstGeom prst="rect">
            <a:avLst/>
          </a:prstGeom>
          <a:solidFill>
            <a:srgbClr val="E9ECE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" y="3410712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" y="3429000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2A9D8F">
              <a:alpha val="85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34290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581912" y="3337560"/>
            <a:ext cx="272491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clearly explains the improvement, links it to specific behaviours (steps, sleep). Tone is encouraging and informative.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3337560"/>
            <a:ext cx="40233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needed — message is clear, positive, and supported by data.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950208"/>
            <a:ext cx="4160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950208"/>
            <a:ext cx="4160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" y="4059936"/>
            <a:ext cx="292608" cy="292608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4944" y="4078224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E9B00">
              <a:alpha val="85000"/>
            </a:srgbClr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" y="40782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Edit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581912" y="3986784"/>
            <a:ext cx="272491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may feel slightly negative or discouraging when no data has been recorded.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73168" y="3986784"/>
            <a:ext cx="40233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see any new data recorded this week. Logging your activity tomorrow can help keep your progress up to date.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599432"/>
            <a:ext cx="9144000" cy="5440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599432"/>
            <a:ext cx="164592" cy="5440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" y="4599432"/>
            <a:ext cx="85953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messages should balance encouragement with caution — avoid implying medical guidance from small or ambiguous data changes.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93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Recommendations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434840" cy="804672"/>
          </a:xfrm>
          <a:prstGeom prst="rect">
            <a:avLst/>
          </a:prstGeom>
          <a:solidFill>
            <a:srgbClr val="132336"/>
          </a:solidFill>
          <a:ln w="12700">
            <a:solidFill>
              <a:srgbClr val="0A9396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1978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 Verification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472184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verification to reduce onboarding drop-off and improve activation rates.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4434840" cy="804672"/>
          </a:xfrm>
          <a:prstGeom prst="rect">
            <a:avLst/>
          </a:prstGeom>
          <a:solidFill>
            <a:srgbClr val="132336"/>
          </a:solidFill>
          <a:ln w="12700">
            <a:solidFill>
              <a:srgbClr val="EE9B00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48256"/>
            <a:ext cx="457200" cy="8046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48256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103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Early Engagement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237744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engagement in the first 14 days via reminders or guided actions.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53512"/>
            <a:ext cx="4434840" cy="804672"/>
          </a:xfrm>
          <a:prstGeom prst="rect">
            <a:avLst/>
          </a:prstGeom>
          <a:solidFill>
            <a:srgbClr val="132336"/>
          </a:solidFill>
          <a:ln w="12700">
            <a:solidFill>
              <a:srgbClr val="0A9396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53512"/>
            <a:ext cx="45720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53512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008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 Device &amp; Logging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3282696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device connections and health logging at onboarding to improve data completeness.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858768"/>
            <a:ext cx="4434840" cy="804672"/>
          </a:xfrm>
          <a:prstGeom prst="rect">
            <a:avLst/>
          </a:prstGeom>
          <a:solidFill>
            <a:srgbClr val="132336"/>
          </a:solidFill>
          <a:ln w="12700">
            <a:solidFill>
              <a:srgbClr val="EE9B00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58768"/>
            <a:ext cx="457200" cy="8046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5876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9136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 AI Insights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4187952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refine AI-generated insights to keep them accurate, supportive, and safe.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804672"/>
            <a:ext cx="36576" cy="37307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8046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4D2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More Time or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1170432"/>
            <a:ext cx="3794760" cy="1078992"/>
          </a:xfrm>
          <a:prstGeom prst="rect">
            <a:avLst/>
          </a:prstGeom>
          <a:solidFill>
            <a:srgbClr val="0D223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1170432"/>
            <a:ext cx="109728" cy="10789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1261872"/>
            <a:ext cx="274320" cy="2743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261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124358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Segmented Engagement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1572768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engagement patterns vary across markets, subscription tiers, or referral sources to identify highest-value user segments.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74920" y="2359152"/>
            <a:ext cx="3794760" cy="1078992"/>
          </a:xfrm>
          <a:prstGeom prst="rect">
            <a:avLst/>
          </a:prstGeom>
          <a:solidFill>
            <a:srgbClr val="0D2236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4920" y="2359152"/>
            <a:ext cx="109728" cy="10789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450592"/>
            <a:ext cx="274320" cy="27432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3560" y="243230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Retention &amp; Outcomes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2761488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observation period would allow deeper analysis of retention curves beyond Week 1 and more robust health outcome measurement.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74920" y="3547872"/>
            <a:ext cx="3794760" cy="1078992"/>
          </a:xfrm>
          <a:prstGeom prst="rect">
            <a:avLst/>
          </a:prstGeom>
          <a:solidFill>
            <a:srgbClr val="0D2236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74920" y="3547872"/>
            <a:ext cx="109728" cy="107899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57800" y="3639312"/>
            <a:ext cx="274320" cy="274320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362102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Behavioural Signals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85232" y="3950208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content usage, meal logging patterns, and coach interactions could reveal what truly drives long-term user success.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608576"/>
            <a:ext cx="164592" cy="5349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608576"/>
            <a:ext cx="85953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these recommendations now, while building toward deeper analysis, will drive sustainable improvements in user outcomes.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705</Words>
  <Application>Microsoft Office PowerPoint</Application>
  <PresentationFormat>On-screen Show (16:9)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Engagement and Health Outcomes Analysis</dc:title>
  <dc:subject>PptxGenJS Presentation</dc:subject>
  <dc:creator>PptxGenJS</dc:creator>
  <cp:lastModifiedBy>Muoneke Nwamba</cp:lastModifiedBy>
  <cp:revision>9</cp:revision>
  <dcterms:created xsi:type="dcterms:W3CDTF">2026-03-07T12:10:14Z</dcterms:created>
  <dcterms:modified xsi:type="dcterms:W3CDTF">2026-03-07T15:44:00Z</dcterms:modified>
</cp:coreProperties>
</file>